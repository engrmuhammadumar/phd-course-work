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4" r:id="rId4"/>
    <p:sldId id="259" r:id="rId5"/>
    <p:sldId id="265" r:id="rId6"/>
    <p:sldId id="257" r:id="rId7"/>
    <p:sldId id="258" r:id="rId8"/>
    <p:sldId id="268" r:id="rId9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47" d="100"/>
          <a:sy n="147" d="100"/>
        </p:scale>
        <p:origin x="21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09B6695-9C24-412A-B14A-D7EF93714B80}" type="datetimeFigureOut">
              <a:rPr lang="ko-KR" altLang="en-US"/>
              <a:pPr>
                <a:defRPr/>
              </a:pPr>
              <a:t>2025-03-03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931C1C0-6931-4DEE-A169-441092D3777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0228B-A14B-46A9-8F59-D66F483703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C32E9D-0CDF-47EF-B1AE-F15D4098E4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B3F9A-C1E2-463C-8AB9-21ECF3F0C2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E581E-D685-4EE1-88DA-7431027AB8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118F9-318C-4A44-8D9A-6326E7B182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75348-9D4E-4B77-9D69-1C72A6CB5E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D74F1-FFD9-4615-8229-C7D579B8700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82D0B-FE4B-474F-8929-486E2A8180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B10A6-66A7-4580-91BF-216A862F01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B74D5-E47E-4BDF-91AE-17EF70B3C4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-127000"/>
            <a:ext cx="2057400" cy="57785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-127000"/>
            <a:ext cx="6019800" cy="57785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FDCF9-9D79-4545-AEAE-34AAFD9ADD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127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C224D3AE-BDDE-4BCC-9180-8DCDDF5854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6643688" y="6572250"/>
            <a:ext cx="25003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ea typeface="굴림" charset="-127"/>
                <a:cs typeface="Arial" pitchFamily="34" charset="0"/>
              </a:rPr>
              <a:t>I</a:t>
            </a:r>
            <a:r>
              <a:rPr lang="en-US" altLang="ko-KR" sz="1200" b="1" dirty="0">
                <a:solidFill>
                  <a:srgbClr val="0000FF"/>
                </a:solidFill>
                <a:latin typeface="Arial" pitchFamily="34" charset="0"/>
                <a:ea typeface="굴림" charset="-127"/>
                <a:cs typeface="Arial" pitchFamily="34" charset="0"/>
              </a:rPr>
              <a:t>nternal </a:t>
            </a:r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ea typeface="굴림" charset="-127"/>
                <a:cs typeface="Arial" pitchFamily="34" charset="0"/>
              </a:rPr>
              <a:t>C</a:t>
            </a:r>
            <a:r>
              <a:rPr lang="en-US" altLang="ko-KR" sz="1200" b="1" dirty="0">
                <a:solidFill>
                  <a:srgbClr val="0000FF"/>
                </a:solidFill>
                <a:latin typeface="Arial" pitchFamily="34" charset="0"/>
                <a:ea typeface="굴림" charset="-127"/>
                <a:cs typeface="Arial" pitchFamily="34" charset="0"/>
              </a:rPr>
              <a:t>ombustion </a:t>
            </a:r>
            <a:r>
              <a:rPr lang="en-US" altLang="ko-KR" sz="1200" b="1" dirty="0">
                <a:solidFill>
                  <a:srgbClr val="FF0000"/>
                </a:solidFill>
                <a:latin typeface="Arial" pitchFamily="34" charset="0"/>
                <a:ea typeface="굴림" charset="-127"/>
                <a:cs typeface="Arial" pitchFamily="34" charset="0"/>
              </a:rPr>
              <a:t>E</a:t>
            </a:r>
            <a:r>
              <a:rPr lang="en-US" altLang="ko-KR" sz="1200" b="1" dirty="0">
                <a:solidFill>
                  <a:srgbClr val="0000FF"/>
                </a:solidFill>
                <a:latin typeface="Arial" pitchFamily="34" charset="0"/>
                <a:ea typeface="굴림" charset="-127"/>
                <a:cs typeface="Arial" pitchFamily="34" charset="0"/>
              </a:rPr>
              <a:t>ngine</a:t>
            </a:r>
            <a:endParaRPr lang="en-US" altLang="ko-KR" sz="1200" b="1" dirty="0">
              <a:solidFill>
                <a:srgbClr val="006600"/>
              </a:solidFill>
              <a:latin typeface="Arial" pitchFamily="34" charset="0"/>
              <a:ea typeface="굴림" charset="-127"/>
              <a:cs typeface="Arial" pitchFamily="34" charset="0"/>
            </a:endParaRPr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-3175" y="904875"/>
            <a:ext cx="9144000" cy="0"/>
          </a:xfrm>
          <a:prstGeom prst="line">
            <a:avLst/>
          </a:prstGeom>
          <a:noFill/>
          <a:ln w="76200">
            <a:solidFill>
              <a:srgbClr val="CC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charset="-127"/>
              <a:ea typeface="굴림" charset="-127"/>
            </a:endParaRPr>
          </a:p>
        </p:txBody>
      </p:sp>
      <p:pic>
        <p:nvPicPr>
          <p:cNvPr id="2" name="Picture 10" descr="ci1_1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400" y="12700"/>
            <a:ext cx="10033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7620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charset="-127"/>
              <a:ea typeface="굴림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lecpubs.sae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ibrary.ulsan.ac.kr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0"/>
            <a:ext cx="9144000" cy="1196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1" name="Picture 4" descr="ci1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3356992"/>
            <a:ext cx="33337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685800" y="141277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4000" b="1" dirty="0">
                <a:latin typeface="Arial" panose="020B0604020202020204" pitchFamily="34" charset="0"/>
                <a:cs typeface="Arial" panose="020B0604020202020204" pitchFamily="34" charset="0"/>
              </a:rPr>
              <a:t>Internal Combustion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Teaching Objective &amp; Evaluation Way 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1150937"/>
          </a:xfrm>
        </p:spPr>
        <p:txBody>
          <a:bodyPr/>
          <a:lstStyle/>
          <a:p>
            <a:pPr marL="457200" indent="-457200" eaLnBrk="1" hangingPunct="1">
              <a:buFontTx/>
              <a:buAutoNum type="arabicPeriod"/>
            </a:pPr>
            <a:r>
              <a:rPr lang="en-US" altLang="ko-KR" sz="1800">
                <a:latin typeface="Arial" panose="020B0604020202020204" pitchFamily="34" charset="0"/>
                <a:cs typeface="Arial" panose="020B0604020202020204" pitchFamily="34" charset="0"/>
              </a:rPr>
              <a:t>Knowledge of ICE</a:t>
            </a:r>
            <a:r>
              <a:rPr lang="ko-KR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>
                <a:latin typeface="Arial" panose="020B0604020202020204" pitchFamily="34" charset="0"/>
                <a:cs typeface="Arial" panose="020B0604020202020204" pitchFamily="34" charset="0"/>
              </a:rPr>
              <a:t>and It’s Applications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altLang="ko-KR" sz="1800">
                <a:latin typeface="Arial" panose="020B0604020202020204" pitchFamily="34" charset="0"/>
                <a:cs typeface="Arial" panose="020B0604020202020204" pitchFamily="34" charset="0"/>
              </a:rPr>
              <a:t>Characterization of Ignition, it’s control way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altLang="ko-KR" sz="1800">
                <a:latin typeface="Arial" panose="020B0604020202020204" pitchFamily="34" charset="0"/>
                <a:cs typeface="Arial" panose="020B0604020202020204" pitchFamily="34" charset="0"/>
              </a:rPr>
              <a:t>Evaluation of Engine performance and Idea for engine design</a:t>
            </a:r>
            <a:endParaRPr lang="ko-KR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4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302636"/>
              </p:ext>
            </p:extLst>
          </p:nvPr>
        </p:nvGraphicFramePr>
        <p:xfrm>
          <a:off x="612775" y="3546475"/>
          <a:ext cx="7136109" cy="1014413"/>
        </p:xfrm>
        <a:graphic>
          <a:graphicData uri="http://schemas.openxmlformats.org/drawingml/2006/table">
            <a:tbl>
              <a:tblPr/>
              <a:tblGrid>
                <a:gridCol w="1276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Assessment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Attendance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Mid term exam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Final exam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Homework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report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%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 10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 35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 35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 10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charset="-127"/>
                          <a:cs typeface="Arial" pitchFamily="34" charset="0"/>
                        </a:rPr>
                        <a:t> 10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charset="-127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99" name="Text Box 42"/>
          <p:cNvSpPr txBox="1">
            <a:spLocks noChangeArrowheads="1"/>
          </p:cNvSpPr>
          <p:nvPr/>
        </p:nvSpPr>
        <p:spPr bwMode="auto">
          <a:xfrm>
            <a:off x="639763" y="4643438"/>
            <a:ext cx="7848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Homework is SAE Paper Review until mid term exam.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Report is Review of Seminars until Final exam.</a:t>
            </a:r>
            <a:endParaRPr lang="ko-KR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0" name="Rectangle 43"/>
          <p:cNvSpPr>
            <a:spLocks noChangeArrowheads="1"/>
          </p:cNvSpPr>
          <p:nvPr/>
        </p:nvSpPr>
        <p:spPr bwMode="auto">
          <a:xfrm>
            <a:off x="539750" y="1125538"/>
            <a:ext cx="2746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b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Teaching Objective </a:t>
            </a:r>
            <a:endParaRPr lang="ko-KR" altLang="en-US" b="1">
              <a:solidFill>
                <a:srgbClr val="00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1" name="직사각형 45"/>
          <p:cNvSpPr>
            <a:spLocks noChangeArrowheads="1"/>
          </p:cNvSpPr>
          <p:nvPr/>
        </p:nvSpPr>
        <p:spPr bwMode="auto">
          <a:xfrm>
            <a:off x="539750" y="3059113"/>
            <a:ext cx="2786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b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Evaluation way</a:t>
            </a:r>
            <a:endParaRPr lang="ko-KR" altLang="en-US" b="1">
              <a:solidFill>
                <a:srgbClr val="00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charset="0"/>
                <a:cs typeface="Arial" charset="0"/>
              </a:rPr>
              <a:t>Text Book</a:t>
            </a:r>
            <a:endParaRPr lang="ko-KR" altLang="en-US">
              <a:latin typeface="Arial" charset="0"/>
              <a:cs typeface="Arial" charset="0"/>
            </a:endParaRPr>
          </a:p>
        </p:txBody>
      </p:sp>
      <p:pic>
        <p:nvPicPr>
          <p:cNvPr id="4099" name="내용 개체 틀 3" descr="스캔000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1117600"/>
            <a:ext cx="4071938" cy="5526088"/>
          </a:xfrm>
        </p:spPr>
      </p:pic>
      <p:sp>
        <p:nvSpPr>
          <p:cNvPr id="4100" name="직사각형 4"/>
          <p:cNvSpPr>
            <a:spLocks noChangeArrowheads="1"/>
          </p:cNvSpPr>
          <p:nvPr/>
        </p:nvSpPr>
        <p:spPr bwMode="auto">
          <a:xfrm>
            <a:off x="4286250" y="1143000"/>
            <a:ext cx="5000625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altLang="ko-KR" b="1">
                <a:latin typeface="Arial" charset="0"/>
                <a:cs typeface="Arial" charset="0"/>
              </a:rPr>
              <a:t>Engineering Fundamentals of the internal 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latin typeface="Arial" charset="0"/>
                <a:cs typeface="Arial" charset="0"/>
              </a:rPr>
              <a:t>  combustion engine,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altLang="ko-KR" b="1">
                <a:latin typeface="Arial" charset="0"/>
                <a:cs typeface="Arial" charset="0"/>
              </a:rPr>
              <a:t>Willard W.Pulkrabek,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altLang="ko-KR" b="1">
                <a:latin typeface="Arial" charset="0"/>
                <a:cs typeface="Arial" charset="0"/>
              </a:rPr>
              <a:t>Pearson Prentice Hall, 2004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charset="0"/>
                <a:cs typeface="Arial" charset="0"/>
              </a:rPr>
              <a:t>Reference</a:t>
            </a:r>
            <a:endParaRPr lang="ko-KR" altLang="en-US">
              <a:latin typeface="Arial" charset="0"/>
              <a:cs typeface="Arial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25" y="1125538"/>
            <a:ext cx="4572000" cy="4525962"/>
          </a:xfrm>
        </p:spPr>
        <p:txBody>
          <a:bodyPr/>
          <a:lstStyle/>
          <a:p>
            <a:pPr marL="0" indent="0" eaLnBrk="1" hangingPunct="1">
              <a:buFontTx/>
              <a:buChar char="•"/>
            </a:pPr>
            <a:r>
              <a:rPr lang="en-US" altLang="ko-KR">
                <a:latin typeface="Arial" charset="0"/>
                <a:cs typeface="Arial" charset="0"/>
              </a:rPr>
              <a:t> Internal Combustion Engine Fundamentals, </a:t>
            </a:r>
          </a:p>
          <a:p>
            <a:pPr marL="0" indent="0" eaLnBrk="1" hangingPunct="1">
              <a:buFontTx/>
              <a:buChar char="•"/>
            </a:pPr>
            <a:r>
              <a:rPr lang="en-US" altLang="ko-KR">
                <a:latin typeface="Arial" charset="0"/>
                <a:cs typeface="Arial" charset="0"/>
              </a:rPr>
              <a:t> John Heywood, </a:t>
            </a:r>
          </a:p>
          <a:p>
            <a:pPr marL="0" indent="0" eaLnBrk="1" hangingPunct="1">
              <a:buFontTx/>
              <a:buChar char="•"/>
            </a:pPr>
            <a:r>
              <a:rPr lang="en-US" altLang="ko-KR">
                <a:latin typeface="Arial" charset="0"/>
                <a:cs typeface="Arial" charset="0"/>
              </a:rPr>
              <a:t> McGraw-Hill Science Engineering</a:t>
            </a:r>
          </a:p>
          <a:p>
            <a:pPr marL="0" indent="0" eaLnBrk="1" hangingPunct="1">
              <a:buFontTx/>
              <a:buChar char="•"/>
            </a:pPr>
            <a:endParaRPr lang="en-US" altLang="ko-KR">
              <a:latin typeface="Arial" charset="0"/>
              <a:cs typeface="Arial" charset="0"/>
            </a:endParaRPr>
          </a:p>
          <a:p>
            <a:pPr marL="0" indent="0" eaLnBrk="1" hangingPunct="1"/>
            <a:endParaRPr lang="en-US" altLang="ko-KR">
              <a:latin typeface="Arial" charset="0"/>
              <a:cs typeface="Arial" charset="0"/>
            </a:endParaRPr>
          </a:p>
        </p:txBody>
      </p:sp>
      <p:pic>
        <p:nvPicPr>
          <p:cNvPr id="5124" name="Picture 4" descr="IMG_0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838" y="1052513"/>
            <a:ext cx="3878262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charset="0"/>
                <a:cs typeface="Arial" charset="0"/>
              </a:rPr>
              <a:t>Reference</a:t>
            </a:r>
            <a:endParaRPr lang="ko-KR" altLang="en-US">
              <a:latin typeface="Arial" charset="0"/>
              <a:cs typeface="Arial" charset="0"/>
            </a:endParaRPr>
          </a:p>
        </p:txBody>
      </p:sp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1131888"/>
            <a:ext cx="8001000" cy="565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1000125" y="6564313"/>
            <a:ext cx="3643313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555875" y="952500"/>
            <a:ext cx="4048125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+mn-ea"/>
                <a:ea typeface="+mn-ea"/>
                <a:cs typeface="Arial" pitchFamily="34" charset="0"/>
              </a:rPr>
              <a:t>SAE Paper : </a:t>
            </a:r>
            <a:r>
              <a:rPr lang="en-US" altLang="ko-KR" b="1" dirty="0">
                <a:latin typeface="+mn-ea"/>
                <a:ea typeface="+mn-ea"/>
                <a:cs typeface="Arial" pitchFamily="34" charset="0"/>
                <a:hlinkClick r:id="rId3"/>
              </a:rPr>
              <a:t>www.elecpubs.sae.org</a:t>
            </a:r>
            <a:endParaRPr lang="en-US" altLang="ko-KR" b="1" dirty="0">
              <a:latin typeface="+mn-ea"/>
              <a:ea typeface="+mn-ea"/>
              <a:cs typeface="Arial" pitchFamily="34" charset="0"/>
            </a:endParaRPr>
          </a:p>
          <a:p>
            <a:pPr>
              <a:defRPr/>
            </a:pPr>
            <a:r>
              <a:rPr lang="en-US" altLang="ko-KR" b="1" dirty="0">
                <a:latin typeface="+mn-ea"/>
                <a:ea typeface="+mn-ea"/>
                <a:cs typeface="Arial" pitchFamily="34" charset="0"/>
                <a:hlinkClick r:id="rId4"/>
              </a:rPr>
              <a:t>http://library.ulsan.ac.kr</a:t>
            </a:r>
            <a:r>
              <a:rPr lang="en-US" altLang="ko-KR" b="1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b="1" dirty="0">
                <a:latin typeface="+mn-ea"/>
                <a:ea typeface="+mn-ea"/>
                <a:cs typeface="Arial" pitchFamily="34" charset="0"/>
              </a:rPr>
              <a:t>접속가능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0" y="1125538"/>
            <a:ext cx="4114800" cy="4525962"/>
          </a:xfrm>
        </p:spPr>
        <p:txBody>
          <a:bodyPr/>
          <a:lstStyle/>
          <a:p>
            <a:pPr marL="0" indent="0" eaLnBrk="1" hangingPunct="1"/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내연기관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 eaLnBrk="1" hangingPunct="1"/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구자예 외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인 공역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희중당 발행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원본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: Interduction to Internal Combustion Engines, Richard Stone 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저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, Macmillan 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출판사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7172" name="Picture 6" descr="내연기관 교재-Richard Sto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052513"/>
            <a:ext cx="3792538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4663" y="1125538"/>
            <a:ext cx="4859337" cy="1874837"/>
          </a:xfrm>
        </p:spPr>
        <p:txBody>
          <a:bodyPr/>
          <a:lstStyle/>
          <a:p>
            <a:pPr marL="0" indent="0" eaLnBrk="1" hangingPunct="1">
              <a:buFontTx/>
              <a:buChar char="•"/>
            </a:pP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내연기관공학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(Second Edition)</a:t>
            </a:r>
          </a:p>
          <a:p>
            <a:pPr marL="0" indent="0" eaLnBrk="1" hangingPunct="1">
              <a:buFontTx/>
              <a:buChar char="•"/>
            </a:pP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김덕줄외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인공역</a:t>
            </a:r>
            <a:endParaRPr lang="en-US" altLang="ko-K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Tx/>
              <a:buChar char="•"/>
            </a:pP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교보문고</a:t>
            </a:r>
            <a:endParaRPr lang="en-US" altLang="ko-K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/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 eaLnBrk="1" hangingPunct="1"/>
            <a:endParaRPr lang="en-US" altLang="ko-K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/>
            <a:endParaRPr lang="en-US" altLang="ko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6" name="Picture 5" descr="IMG_0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100138"/>
            <a:ext cx="3627437" cy="520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36512" y="165588"/>
            <a:ext cx="9289032" cy="562074"/>
          </a:xfrm>
        </p:spPr>
        <p:txBody>
          <a:bodyPr/>
          <a:lstStyle/>
          <a:p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Research Laboratory: The Laboratory for Next Generation Fuel &amp; Smart Powertrain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0868" y="965360"/>
            <a:ext cx="8579296" cy="5544616"/>
          </a:xfrm>
        </p:spPr>
        <p:txBody>
          <a:bodyPr/>
          <a:lstStyle/>
          <a:p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* Professor: Dr. </a:t>
            </a:r>
            <a:r>
              <a:rPr lang="en-US" altLang="ko-KR" sz="1800" dirty="0" err="1">
                <a:latin typeface="Arial" panose="020B0604020202020204" pitchFamily="34" charset="0"/>
                <a:cs typeface="Arial" panose="020B0604020202020204" pitchFamily="34" charset="0"/>
              </a:rPr>
              <a:t>Ock-Taeck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 Lim</a:t>
            </a:r>
          </a:p>
          <a:p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* Experience	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Professor, University of Ulsan, Ulsan, South Korea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National Traffic Safety and Environment Laboratory, Japan</a:t>
            </a:r>
          </a:p>
          <a:p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* Education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Ph.D. in Mechanical Eng., 2006, Keio University, Minato, Japan</a:t>
            </a:r>
          </a:p>
          <a:p>
            <a:pPr lvl="2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The Effects of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Inhomogeneities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on HCCI Engine Combustion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B.S. (1998), M.S. (2002) in Mechanical Eng.,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Chonnam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University,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Gwangju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South Korea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The Laboratory for Next Generation Fuel &amp; Smart Powertrain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11 Doctor Course. students, 2 Master Course students 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Topic 1: Next generation high efficiency low-emission combustion engine research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Topic 2: Visualization of spray atomization and spray combustion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Topic 3: Life-cycle analysis of next-generation automotive power during system(LCA)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Topic 4: Electric Vehicle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Funding sources: Government, Korea Gas Corporation(KOGAS), University of Ulsan</a:t>
            </a:r>
          </a:p>
          <a:p>
            <a:pPr lvl="1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Point of contact: Prof.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Ock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Taeck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Lim (otlim@ulsan.ac.kr)</a:t>
            </a:r>
          </a:p>
          <a:p>
            <a:pPr lvl="1"/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ko-KR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1484784"/>
            <a:ext cx="1057906" cy="14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3809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355</Words>
  <Application>Microsoft Office PowerPoint</Application>
  <PresentationFormat>화면 슬라이드 쇼(4:3)</PresentationFormat>
  <Paragraphs>60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HY헤드라인M</vt:lpstr>
      <vt:lpstr>굴림</vt:lpstr>
      <vt:lpstr>맑은 고딕</vt:lpstr>
      <vt:lpstr>Arial</vt:lpstr>
      <vt:lpstr>기본 디자인</vt:lpstr>
      <vt:lpstr>PowerPoint 프레젠테이션</vt:lpstr>
      <vt:lpstr>Teaching Objective &amp; Evaluation Way </vt:lpstr>
      <vt:lpstr>Text Book</vt:lpstr>
      <vt:lpstr>Reference</vt:lpstr>
      <vt:lpstr>Reference</vt:lpstr>
      <vt:lpstr>Reference</vt:lpstr>
      <vt:lpstr>Reference</vt:lpstr>
      <vt:lpstr>Research Laboratory: The Laboratory for Next Generation Fuel &amp; Smart Powertrain</vt:lpstr>
    </vt:vector>
  </TitlesOfParts>
  <Company>UOU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내연기관</dc:title>
  <dc:creator>UOU</dc:creator>
  <cp:lastModifiedBy>OCK TAECK LIM</cp:lastModifiedBy>
  <cp:revision>28</cp:revision>
  <dcterms:created xsi:type="dcterms:W3CDTF">2007-09-03T00:07:51Z</dcterms:created>
  <dcterms:modified xsi:type="dcterms:W3CDTF">2025-03-03T04:54:25Z</dcterms:modified>
</cp:coreProperties>
</file>