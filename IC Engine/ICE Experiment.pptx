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0" r:id="rId2"/>
  </p:sldMasterIdLst>
  <p:notesMasterIdLst>
    <p:notesMasterId r:id="rId6"/>
  </p:notesMasterIdLst>
  <p:handoutMasterIdLst>
    <p:handoutMasterId r:id="rId7"/>
  </p:handoutMasterIdLst>
  <p:sldIdLst>
    <p:sldId id="1024" r:id="rId3"/>
    <p:sldId id="1045" r:id="rId4"/>
    <p:sldId id="1253" r:id="rId5"/>
  </p:sldIdLst>
  <p:sldSz cx="9144000" cy="6858000" type="screen4x3"/>
  <p:notesSz cx="9928225" cy="6797675"/>
  <p:defaultTextStyle>
    <a:defPPr>
      <a:defRPr lang="ko-KR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굴림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굴림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굴림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굴림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굴림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굴림"/>
        <a:ea typeface="굴림"/>
        <a:cs typeface="굴림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굴림"/>
        <a:ea typeface="굴림"/>
        <a:cs typeface="굴림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굴림"/>
        <a:ea typeface="굴림"/>
        <a:cs typeface="굴림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굴림"/>
        <a:ea typeface="굴림"/>
        <a:cs typeface="굴림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2" userDrawn="1">
          <p15:clr>
            <a:srgbClr val="A4A3A4"/>
          </p15:clr>
        </p15:guide>
        <p15:guide id="2" pos="312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FF"/>
    <a:srgbClr val="0000CC"/>
    <a:srgbClr val="993300"/>
    <a:srgbClr val="CC00CC"/>
    <a:srgbClr val="006600"/>
    <a:srgbClr val="FFCC00"/>
    <a:srgbClr val="FF6600"/>
    <a:srgbClr val="009900"/>
    <a:srgbClr val="000000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91254" autoAdjust="0"/>
  </p:normalViewPr>
  <p:slideViewPr>
    <p:cSldViewPr>
      <p:cViewPr varScale="1">
        <p:scale>
          <a:sx n="145" d="100"/>
          <a:sy n="145" d="100"/>
        </p:scale>
        <p:origin x="2430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3246" y="-78"/>
      </p:cViewPr>
      <p:guideLst>
        <p:guide orient="horz" pos="2142"/>
        <p:guide pos="312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9" y="4"/>
            <a:ext cx="4303090" cy="340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ja-JP"/>
          </a:p>
        </p:txBody>
      </p:sp>
      <p:sp>
        <p:nvSpPr>
          <p:cNvPr id="4515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2797" y="4"/>
            <a:ext cx="4303088" cy="340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8BA8ADC-39F1-4855-ACBA-BB2AE2C87CE7}" type="datetimeFigureOut">
              <a:rPr lang="ja-JP" altLang="en-US"/>
              <a:pPr/>
              <a:t>2023/10/20</a:t>
            </a:fld>
            <a:endParaRPr lang="en-US" altLang="ja-JP"/>
          </a:p>
        </p:txBody>
      </p:sp>
      <p:sp>
        <p:nvSpPr>
          <p:cNvPr id="4515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9" y="6456536"/>
            <a:ext cx="4303090" cy="34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ja-JP"/>
          </a:p>
        </p:txBody>
      </p:sp>
      <p:sp>
        <p:nvSpPr>
          <p:cNvPr id="4515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2797" y="6456536"/>
            <a:ext cx="4303088" cy="34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43AF31F-E777-41D3-983D-25BF83717499}" type="slidenum">
              <a:rPr lang="ja-JP" altLang="en-US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5151573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9" y="4"/>
            <a:ext cx="4303090" cy="340048"/>
          </a:xfrm>
          <a:prstGeom prst="rect">
            <a:avLst/>
          </a:prstGeom>
        </p:spPr>
        <p:txBody>
          <a:bodyPr vert="horz" lIns="90727" tIns="45363" rIns="90727" bIns="45363" rtlCol="0"/>
          <a:lstStyle>
            <a:lvl1pPr algn="l" fontAlgn="auto" latinLnBrk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2797" y="4"/>
            <a:ext cx="4303088" cy="340048"/>
          </a:xfrm>
          <a:prstGeom prst="rect">
            <a:avLst/>
          </a:prstGeom>
        </p:spPr>
        <p:txBody>
          <a:bodyPr vert="horz" lIns="90727" tIns="45363" rIns="90727" bIns="45363" rtlCol="0"/>
          <a:lstStyle>
            <a:lvl1pPr algn="r" fontAlgn="auto" latinLnBrk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C24EB008-5745-4BCF-A797-846177737E6E}" type="datetimeFigureOut">
              <a:rPr lang="ko-KR" altLang="en-US"/>
              <a:pPr>
                <a:defRPr/>
              </a:pPr>
              <a:t>2023-10-20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4004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27" tIns="45363" rIns="90727" bIns="45363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121" y="3228815"/>
            <a:ext cx="7943985" cy="3059336"/>
          </a:xfrm>
          <a:prstGeom prst="rect">
            <a:avLst/>
          </a:prstGeom>
        </p:spPr>
        <p:txBody>
          <a:bodyPr vert="horz" lIns="90727" tIns="45363" rIns="90727" bIns="45363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9" y="6456536"/>
            <a:ext cx="4303090" cy="340047"/>
          </a:xfrm>
          <a:prstGeom prst="rect">
            <a:avLst/>
          </a:prstGeom>
        </p:spPr>
        <p:txBody>
          <a:bodyPr vert="horz" lIns="90727" tIns="45363" rIns="90727" bIns="45363" rtlCol="0" anchor="b"/>
          <a:lstStyle>
            <a:lvl1pPr algn="l" fontAlgn="auto" latinLnBrk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2797" y="6456536"/>
            <a:ext cx="4303088" cy="340047"/>
          </a:xfrm>
          <a:prstGeom prst="rect">
            <a:avLst/>
          </a:prstGeom>
        </p:spPr>
        <p:txBody>
          <a:bodyPr vert="horz" lIns="90727" tIns="45363" rIns="90727" bIns="45363" rtlCol="0" anchor="b"/>
          <a:lstStyle>
            <a:lvl1pPr algn="r" fontAlgn="auto" latinLnBrk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8DEA7C54-BF26-4C9E-8DD2-B1FE9089909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2839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맑은 고딕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맑은 고딕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맑은 고딕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맑은 고딕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맑은 고딕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DEA7C54-BF26-4C9E-8DD2-B1FE9089909A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1625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DEA7C54-BF26-4C9E-8DD2-B1FE9089909A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3215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175B7448-A54B-F6DD-9AD5-FD8E426896B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7D9F4D91-A70C-A36E-612A-87EBA7C79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ja-JP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6FFF0F93-C140-2B82-BD80-82EB87961B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646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35013" indent="-282575" defTabSz="90646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31888" indent="-225425" defTabSz="90646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584325" indent="-225425" defTabSz="90646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38350" indent="-225425" defTabSz="90646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495550" indent="-225425" defTabSz="9064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52750" indent="-225425" defTabSz="9064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09950" indent="-225425" defTabSz="9064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67150" indent="-225425" defTabSz="9064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DAD5336-874A-4F13-A117-24411D67CBD6}" type="slidenum">
              <a:rPr kumimoji="0" lang="zh-CN" altLang="en-US">
                <a:latin typeface="Calibri" panose="020F0502020204030204" pitchFamily="34" charset="0"/>
                <a:ea typeface="SimSun" panose="02010600030101010101" pitchFamily="2" charset="-122"/>
              </a:rPr>
              <a:pPr/>
              <a:t>3</a:t>
            </a:fld>
            <a:endParaRPr kumimoji="0" lang="en-US" altLang="zh-CN"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1" descr="ci1_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400" y="12700"/>
            <a:ext cx="1003300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Line 30"/>
          <p:cNvSpPr>
            <a:spLocks noChangeShapeType="1"/>
          </p:cNvSpPr>
          <p:nvPr userDrawn="1"/>
        </p:nvSpPr>
        <p:spPr bwMode="auto">
          <a:xfrm>
            <a:off x="-3175" y="946768"/>
            <a:ext cx="9144000" cy="0"/>
          </a:xfrm>
          <a:prstGeom prst="line">
            <a:avLst/>
          </a:prstGeom>
          <a:noFill/>
          <a:ln w="76200">
            <a:solidFill>
              <a:srgbClr val="FFFF00"/>
            </a:solidFill>
            <a:round/>
            <a:headEnd/>
            <a:tailEnd/>
          </a:ln>
          <a:effectLst/>
        </p:spPr>
        <p:txBody>
          <a:bodyPr/>
          <a:lstStyle/>
          <a:p>
            <a:pPr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+mn-lt"/>
              <a:ea typeface="+mn-ea"/>
              <a:cs typeface="+mn-cs"/>
            </a:endParaRPr>
          </a:p>
        </p:txBody>
      </p:sp>
      <p:sp>
        <p:nvSpPr>
          <p:cNvPr id="7" name="Line 32"/>
          <p:cNvSpPr>
            <a:spLocks noChangeShapeType="1"/>
          </p:cNvSpPr>
          <p:nvPr userDrawn="1"/>
        </p:nvSpPr>
        <p:spPr bwMode="auto">
          <a:xfrm>
            <a:off x="0" y="900113"/>
            <a:ext cx="9144000" cy="0"/>
          </a:xfrm>
          <a:prstGeom prst="line">
            <a:avLst/>
          </a:prstGeom>
          <a:noFill/>
          <a:ln w="7620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+mn-lt"/>
              <a:ea typeface="+mn-ea"/>
              <a:cs typeface="+mn-cs"/>
            </a:endParaRPr>
          </a:p>
        </p:txBody>
      </p:sp>
      <p:grpSp>
        <p:nvGrpSpPr>
          <p:cNvPr id="19" name="그룹 18"/>
          <p:cNvGrpSpPr/>
          <p:nvPr userDrawn="1"/>
        </p:nvGrpSpPr>
        <p:grpSpPr>
          <a:xfrm>
            <a:off x="7348248" y="6595778"/>
            <a:ext cx="2357454" cy="258421"/>
            <a:chOff x="7064238" y="6566114"/>
            <a:chExt cx="2357454" cy="258421"/>
          </a:xfrm>
        </p:grpSpPr>
        <p:grpSp>
          <p:nvGrpSpPr>
            <p:cNvPr id="20" name="그룹 15"/>
            <p:cNvGrpSpPr/>
            <p:nvPr userDrawn="1"/>
          </p:nvGrpSpPr>
          <p:grpSpPr>
            <a:xfrm>
              <a:off x="7064238" y="6566114"/>
              <a:ext cx="2357454" cy="218731"/>
              <a:chOff x="6491721" y="6566120"/>
              <a:chExt cx="2643206" cy="289581"/>
            </a:xfrm>
          </p:grpSpPr>
          <p:pic>
            <p:nvPicPr>
              <p:cNvPr id="22" name="_x143767216" descr="EMB000041807336"/>
              <p:cNvPicPr>
                <a:picLocks noChangeAspect="1" noChangeArrowheads="1"/>
              </p:cNvPicPr>
              <p:nvPr userDrawn="1"/>
            </p:nvPicPr>
            <p:blipFill>
              <a:blip r:embed="rId3" cstate="print"/>
              <a:srcRect l="3201" t="22466" r="20583" b="21346"/>
              <a:stretch>
                <a:fillRect/>
              </a:stretch>
            </p:blipFill>
            <p:spPr bwMode="auto">
              <a:xfrm>
                <a:off x="6491721" y="6566120"/>
                <a:ext cx="2643206" cy="251427"/>
              </a:xfrm>
              <a:prstGeom prst="rect">
                <a:avLst/>
              </a:prstGeom>
              <a:noFill/>
            </p:spPr>
          </p:pic>
          <p:sp>
            <p:nvSpPr>
              <p:cNvPr id="23" name="직사각형 22"/>
              <p:cNvSpPr/>
              <p:nvPr userDrawn="1"/>
            </p:nvSpPr>
            <p:spPr bwMode="auto">
              <a:xfrm>
                <a:off x="6887996" y="6688549"/>
                <a:ext cx="2214547" cy="167152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rtlCol="0" anchor="ctr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cs typeface="+mn-cs"/>
                </a:endParaRPr>
              </a:p>
            </p:txBody>
          </p:sp>
        </p:grpSp>
        <p:sp>
          <p:nvSpPr>
            <p:cNvPr id="21" name="Text Box 35"/>
            <p:cNvSpPr txBox="1">
              <a:spLocks noChangeArrowheads="1"/>
            </p:cNvSpPr>
            <p:nvPr userDrawn="1"/>
          </p:nvSpPr>
          <p:spPr bwMode="auto">
            <a:xfrm>
              <a:off x="7360727" y="6593703"/>
              <a:ext cx="1553630" cy="2308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fontAlgn="auto" latinLnBrk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700" b="1" dirty="0">
                  <a:solidFill>
                    <a:srgbClr val="00B050"/>
                  </a:solidFill>
                  <a:latin typeface="Bodoni MT Black" pitchFamily="18" charset="0"/>
                  <a:ea typeface="휴먼엑스포" pitchFamily="18" charset="-127"/>
                  <a:cs typeface="+mn-cs"/>
                </a:rPr>
                <a:t>S</a:t>
              </a:r>
              <a:r>
                <a:rPr kumimoji="0" lang="en-US" altLang="ko-KR" sz="900" b="0" dirty="0">
                  <a:latin typeface="Bodoni MT Black" pitchFamily="18" charset="0"/>
                  <a:ea typeface="휴먼엑스포" pitchFamily="18" charset="-127"/>
                  <a:cs typeface="+mn-cs"/>
                </a:rPr>
                <a:t>mart</a:t>
              </a:r>
              <a:r>
                <a:rPr kumimoji="0" lang="en-US" altLang="ko-KR" sz="900" b="0" dirty="0">
                  <a:solidFill>
                    <a:srgbClr val="FF0000"/>
                  </a:solidFill>
                  <a:latin typeface="Bodoni MT Black" pitchFamily="18" charset="0"/>
                  <a:ea typeface="휴먼엑스포" pitchFamily="18" charset="-127"/>
                  <a:cs typeface="+mn-cs"/>
                </a:rPr>
                <a:t> </a:t>
              </a:r>
              <a:r>
                <a:rPr kumimoji="0" lang="en-US" altLang="ko-KR" sz="700" b="0" dirty="0" err="1">
                  <a:solidFill>
                    <a:srgbClr val="00B050"/>
                  </a:solidFill>
                  <a:latin typeface="Bodoni MT Black" pitchFamily="18" charset="0"/>
                  <a:ea typeface="휴먼엑스포" pitchFamily="18" charset="-127"/>
                  <a:cs typeface="+mn-cs"/>
                </a:rPr>
                <a:t>P</a:t>
              </a:r>
              <a:r>
                <a:rPr kumimoji="0" lang="en-US" altLang="ko-KR" sz="900" b="0" dirty="0" err="1">
                  <a:latin typeface="Bodoni MT Black" pitchFamily="18" charset="0"/>
                  <a:ea typeface="휴먼엑스포" pitchFamily="18" charset="-127"/>
                  <a:cs typeface="+mn-cs"/>
                </a:rPr>
                <a:t>owertrain</a:t>
              </a:r>
              <a:r>
                <a:rPr kumimoji="0" lang="en-US" altLang="ko-KR" sz="900" b="0" dirty="0">
                  <a:latin typeface="Bodoni MT Black" pitchFamily="18" charset="0"/>
                  <a:ea typeface="휴먼엑스포" pitchFamily="18" charset="-127"/>
                  <a:cs typeface="+mn-cs"/>
                </a:rPr>
                <a:t> Lab.</a:t>
              </a:r>
            </a:p>
          </p:txBody>
        </p:sp>
      </p:grpSp>
      <p:sp>
        <p:nvSpPr>
          <p:cNvPr id="24" name="직사각형 23"/>
          <p:cNvSpPr/>
          <p:nvPr userDrawn="1"/>
        </p:nvSpPr>
        <p:spPr bwMode="auto">
          <a:xfrm>
            <a:off x="9143559" y="6286520"/>
            <a:ext cx="711522" cy="785818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rtlCol="0" anchor="ctr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-26988"/>
            <a:ext cx="8229600" cy="949326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117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29139-7034-4E62-B0DF-D305D0980AFD}" type="datetime1">
              <a:rPr lang="ko-KR" altLang="en-US"/>
              <a:pPr>
                <a:defRPr/>
              </a:pPr>
              <a:t>2023-10-20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005208-62C8-41C9-BC72-386B935E516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6715125" y="6143625"/>
            <a:ext cx="2133600" cy="365125"/>
          </a:xfrm>
        </p:spPr>
        <p:txBody>
          <a:bodyPr/>
          <a:lstStyle>
            <a:lvl1pPr>
              <a:defRPr b="1" i="0" baseline="0">
                <a:solidFill>
                  <a:prstClr val="black"/>
                </a:solidFill>
              </a:defRPr>
            </a:lvl1pPr>
          </a:lstStyle>
          <a:p>
            <a:pPr>
              <a:defRPr/>
            </a:pPr>
            <a:fld id="{B222BAF4-3E59-4454-90A7-E35AC834481E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5143536"/>
          </a:xfrm>
        </p:spPr>
        <p:txBody>
          <a:bodyPr/>
          <a:lstStyle>
            <a:lvl1pPr>
              <a:defRPr sz="2200" b="1" i="0" baseline="0"/>
            </a:lvl1pPr>
            <a:lvl2pPr>
              <a:defRPr sz="2100" baseline="0"/>
            </a:lvl2pPr>
            <a:lvl3pPr>
              <a:defRPr sz="1800" baseline="0"/>
            </a:lvl3pPr>
            <a:lvl4pPr>
              <a:defRPr sz="1800" baseline="0"/>
            </a:lvl4pPr>
            <a:lvl5pPr>
              <a:defRPr sz="1800" baseline="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9" name="제목 2"/>
          <p:cNvSpPr>
            <a:spLocks noGrp="1"/>
          </p:cNvSpPr>
          <p:nvPr>
            <p:ph type="title" idx="4294967295"/>
          </p:nvPr>
        </p:nvSpPr>
        <p:spPr>
          <a:xfrm>
            <a:off x="249144" y="142852"/>
            <a:ext cx="8286808" cy="725487"/>
          </a:xfrm>
        </p:spPr>
        <p:txBody>
          <a:bodyPr>
            <a:normAutofit fontScale="90000"/>
          </a:bodyPr>
          <a:lstStyle>
            <a:lvl1pPr>
              <a:defRPr sz="3200" baseline="0">
                <a:ea typeface="맑은 고딕" pitchFamily="50" charset="-127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6581775" y="6429375"/>
            <a:ext cx="2133600" cy="365125"/>
          </a:xfrm>
        </p:spPr>
        <p:txBody>
          <a:bodyPr/>
          <a:lstStyle>
            <a:lvl1pPr>
              <a:defRPr b="1" i="0" baseline="0">
                <a:solidFill>
                  <a:prstClr val="black"/>
                </a:solidFill>
              </a:defRPr>
            </a:lvl1pPr>
          </a:lstStyle>
          <a:p>
            <a:pPr>
              <a:defRPr/>
            </a:pPr>
            <a:fld id="{9994204C-8B01-4095-BE32-7F8CA4824F4F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7929563" y="6429375"/>
            <a:ext cx="785812" cy="365125"/>
          </a:xfrm>
        </p:spPr>
        <p:txBody>
          <a:bodyPr/>
          <a:lstStyle>
            <a:lvl1pPr>
              <a:defRPr b="1" i="0" baseline="0">
                <a:solidFill>
                  <a:prstClr val="black"/>
                </a:solidFill>
              </a:defRPr>
            </a:lvl1pPr>
          </a:lstStyle>
          <a:p>
            <a:pPr>
              <a:defRPr/>
            </a:pPr>
            <a:fld id="{8D4126A7-10A6-40D0-A7A8-875DEE566B25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43250" y="6478588"/>
            <a:ext cx="4929188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atinLnBrk="1">
              <a:defRPr/>
            </a:pP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itchFamily="18" charset="0"/>
                <a:ea typeface="굴림" pitchFamily="50" charset="-127"/>
                <a:cs typeface="+mn-cs"/>
              </a:rPr>
              <a:t>KAIST Engine Laboratory</a:t>
            </a:r>
            <a:endParaRPr lang="ko-KR" altLang="en-US" sz="1400" dirty="0">
              <a:solidFill>
                <a:prstClr val="black">
                  <a:lumMod val="85000"/>
                  <a:lumOff val="15000"/>
                </a:prstClr>
              </a:solidFill>
              <a:latin typeface="Times New Roman" pitchFamily="18" charset="0"/>
              <a:ea typeface="굴림" pitchFamily="50" charset="-127"/>
              <a:cs typeface="+mn-cs"/>
            </a:endParaRPr>
          </a:p>
        </p:txBody>
      </p:sp>
      <p:sp>
        <p:nvSpPr>
          <p:cNvPr id="3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6581775" y="6429375"/>
            <a:ext cx="2133600" cy="365125"/>
          </a:xfrm>
        </p:spPr>
        <p:txBody>
          <a:bodyPr/>
          <a:lstStyle>
            <a:lvl1pPr>
              <a:defRPr b="1" i="0" baseline="0">
                <a:solidFill>
                  <a:prstClr val="black"/>
                </a:solidFill>
              </a:defRPr>
            </a:lvl1pPr>
          </a:lstStyle>
          <a:p>
            <a:pPr>
              <a:defRPr/>
            </a:pPr>
            <a:fld id="{326A62F8-4E0D-4A42-8929-C6993C7A895D}" type="slidenum">
              <a:rPr lang="ko-KR" altLang="en-US"/>
              <a:pPr>
                <a:defRPr/>
              </a:pPr>
              <a:t>‹#›</a:t>
            </a:fld>
            <a:r>
              <a:rPr lang="en-US" altLang="ko-KR" dirty="0"/>
              <a:t>/ 53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및 내용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7929563" y="6429375"/>
            <a:ext cx="785812" cy="365125"/>
          </a:xfrm>
        </p:spPr>
        <p:txBody>
          <a:bodyPr/>
          <a:lstStyle>
            <a:lvl1pPr>
              <a:defRPr b="1" i="0" baseline="0">
                <a:solidFill>
                  <a:prstClr val="black"/>
                </a:solidFill>
              </a:defRPr>
            </a:lvl1pPr>
          </a:lstStyle>
          <a:p>
            <a:pPr>
              <a:defRPr/>
            </a:pPr>
            <a:fld id="{716CB0EB-3264-4524-B505-D03818519207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및 내용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7929563" y="6429375"/>
            <a:ext cx="785812" cy="365125"/>
          </a:xfrm>
        </p:spPr>
        <p:txBody>
          <a:bodyPr/>
          <a:lstStyle>
            <a:lvl1pPr>
              <a:defRPr b="1" i="0" baseline="0">
                <a:solidFill>
                  <a:prstClr val="black"/>
                </a:solidFill>
              </a:defRPr>
            </a:lvl1pPr>
          </a:lstStyle>
          <a:p>
            <a:pPr>
              <a:defRPr/>
            </a:pPr>
            <a:fld id="{8C4F7845-0481-46FD-8B0F-B28A89459D7C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제목 및 내용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7929563" y="6429375"/>
            <a:ext cx="785812" cy="365125"/>
          </a:xfrm>
        </p:spPr>
        <p:txBody>
          <a:bodyPr/>
          <a:lstStyle>
            <a:lvl1pPr>
              <a:defRPr b="1" i="0" baseline="0">
                <a:solidFill>
                  <a:prstClr val="black"/>
                </a:solidFill>
              </a:defRPr>
            </a:lvl1pPr>
          </a:lstStyle>
          <a:p>
            <a:pPr>
              <a:defRPr/>
            </a:pPr>
            <a:fld id="{D7277C08-BF6A-4EE4-AB21-3AF706A555E4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gif"/><Relationship Id="rId5" Type="http://schemas.openxmlformats.org/officeDocument/2006/relationships/image" Target="../media/image2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1" descr="ci1_1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400" y="12700"/>
            <a:ext cx="1003300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Line 30"/>
          <p:cNvSpPr>
            <a:spLocks noChangeShapeType="1"/>
          </p:cNvSpPr>
          <p:nvPr userDrawn="1"/>
        </p:nvSpPr>
        <p:spPr bwMode="auto">
          <a:xfrm>
            <a:off x="-3175" y="946768"/>
            <a:ext cx="9144000" cy="0"/>
          </a:xfrm>
          <a:prstGeom prst="line">
            <a:avLst/>
          </a:prstGeom>
          <a:noFill/>
          <a:ln w="76200">
            <a:solidFill>
              <a:srgbClr val="FFFF00"/>
            </a:solidFill>
            <a:round/>
            <a:headEnd/>
            <a:tailEnd/>
          </a:ln>
          <a:effectLst/>
        </p:spPr>
        <p:txBody>
          <a:bodyPr/>
          <a:lstStyle/>
          <a:p>
            <a:pPr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+mn-lt"/>
              <a:ea typeface="+mn-ea"/>
              <a:cs typeface="+mn-cs"/>
            </a:endParaRPr>
          </a:p>
        </p:txBody>
      </p:sp>
      <p:sp>
        <p:nvSpPr>
          <p:cNvPr id="7" name="Line 32"/>
          <p:cNvSpPr>
            <a:spLocks noChangeShapeType="1"/>
          </p:cNvSpPr>
          <p:nvPr userDrawn="1"/>
        </p:nvSpPr>
        <p:spPr bwMode="auto">
          <a:xfrm>
            <a:off x="0" y="900113"/>
            <a:ext cx="9144000" cy="0"/>
          </a:xfrm>
          <a:prstGeom prst="line">
            <a:avLst/>
          </a:prstGeom>
          <a:noFill/>
          <a:ln w="7620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+mn-lt"/>
              <a:ea typeface="+mn-ea"/>
              <a:cs typeface="+mn-cs"/>
            </a:endParaRPr>
          </a:p>
        </p:txBody>
      </p:sp>
      <p:grpSp>
        <p:nvGrpSpPr>
          <p:cNvPr id="18" name="그룹 17"/>
          <p:cNvGrpSpPr/>
          <p:nvPr userDrawn="1"/>
        </p:nvGrpSpPr>
        <p:grpSpPr>
          <a:xfrm>
            <a:off x="7348248" y="6595778"/>
            <a:ext cx="2357454" cy="258421"/>
            <a:chOff x="7064238" y="6566114"/>
            <a:chExt cx="2357454" cy="258421"/>
          </a:xfrm>
        </p:grpSpPr>
        <p:grpSp>
          <p:nvGrpSpPr>
            <p:cNvPr id="16" name="그룹 15"/>
            <p:cNvGrpSpPr/>
            <p:nvPr userDrawn="1"/>
          </p:nvGrpSpPr>
          <p:grpSpPr>
            <a:xfrm>
              <a:off x="7064238" y="6566114"/>
              <a:ext cx="2357454" cy="218731"/>
              <a:chOff x="6491721" y="6566120"/>
              <a:chExt cx="2643206" cy="289581"/>
            </a:xfrm>
          </p:grpSpPr>
          <p:pic>
            <p:nvPicPr>
              <p:cNvPr id="13" name="_x143767216" descr="EMB000041807336"/>
              <p:cNvPicPr>
                <a:picLocks noChangeAspect="1" noChangeArrowheads="1"/>
              </p:cNvPicPr>
              <p:nvPr userDrawn="1"/>
            </p:nvPicPr>
            <p:blipFill>
              <a:blip r:embed="rId6" cstate="print"/>
              <a:srcRect l="3201" t="22466" r="20583" b="21346"/>
              <a:stretch>
                <a:fillRect/>
              </a:stretch>
            </p:blipFill>
            <p:spPr bwMode="auto">
              <a:xfrm>
                <a:off x="6491721" y="6566120"/>
                <a:ext cx="2643206" cy="251427"/>
              </a:xfrm>
              <a:prstGeom prst="rect">
                <a:avLst/>
              </a:prstGeom>
              <a:noFill/>
            </p:spPr>
          </p:pic>
          <p:sp>
            <p:nvSpPr>
              <p:cNvPr id="15" name="직사각형 14"/>
              <p:cNvSpPr/>
              <p:nvPr userDrawn="1"/>
            </p:nvSpPr>
            <p:spPr bwMode="auto">
              <a:xfrm>
                <a:off x="6887996" y="6688549"/>
                <a:ext cx="2214547" cy="167152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rtlCol="0" anchor="ctr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cs typeface="+mn-cs"/>
                </a:endParaRPr>
              </a:p>
            </p:txBody>
          </p:sp>
        </p:grpSp>
        <p:sp>
          <p:nvSpPr>
            <p:cNvPr id="11" name="Text Box 35"/>
            <p:cNvSpPr txBox="1">
              <a:spLocks noChangeArrowheads="1"/>
            </p:cNvSpPr>
            <p:nvPr userDrawn="1"/>
          </p:nvSpPr>
          <p:spPr bwMode="auto">
            <a:xfrm>
              <a:off x="7360727" y="6593703"/>
              <a:ext cx="1553630" cy="2308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fontAlgn="auto" latinLnBrk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700" b="1" dirty="0">
                  <a:solidFill>
                    <a:srgbClr val="00B050"/>
                  </a:solidFill>
                  <a:latin typeface="Bodoni MT Black" pitchFamily="18" charset="0"/>
                  <a:ea typeface="휴먼엑스포" pitchFamily="18" charset="-127"/>
                  <a:cs typeface="+mn-cs"/>
                </a:rPr>
                <a:t>S</a:t>
              </a:r>
              <a:r>
                <a:rPr kumimoji="0" lang="en-US" altLang="ko-KR" sz="900" b="0" dirty="0">
                  <a:latin typeface="Bodoni MT Black" pitchFamily="18" charset="0"/>
                  <a:ea typeface="휴먼엑스포" pitchFamily="18" charset="-127"/>
                  <a:cs typeface="+mn-cs"/>
                </a:rPr>
                <a:t>mart</a:t>
              </a:r>
              <a:r>
                <a:rPr kumimoji="0" lang="en-US" altLang="ko-KR" sz="900" b="0" dirty="0">
                  <a:solidFill>
                    <a:srgbClr val="FF0000"/>
                  </a:solidFill>
                  <a:latin typeface="Bodoni MT Black" pitchFamily="18" charset="0"/>
                  <a:ea typeface="휴먼엑스포" pitchFamily="18" charset="-127"/>
                  <a:cs typeface="+mn-cs"/>
                </a:rPr>
                <a:t> </a:t>
              </a:r>
              <a:r>
                <a:rPr kumimoji="0" lang="en-US" altLang="ko-KR" sz="700" b="0" dirty="0" err="1">
                  <a:solidFill>
                    <a:srgbClr val="00B050"/>
                  </a:solidFill>
                  <a:latin typeface="Bodoni MT Black" pitchFamily="18" charset="0"/>
                  <a:ea typeface="휴먼엑스포" pitchFamily="18" charset="-127"/>
                  <a:cs typeface="+mn-cs"/>
                </a:rPr>
                <a:t>P</a:t>
              </a:r>
              <a:r>
                <a:rPr kumimoji="0" lang="en-US" altLang="ko-KR" sz="900" b="0" dirty="0" err="1">
                  <a:latin typeface="Bodoni MT Black" pitchFamily="18" charset="0"/>
                  <a:ea typeface="휴먼엑스포" pitchFamily="18" charset="-127"/>
                  <a:cs typeface="+mn-cs"/>
                </a:rPr>
                <a:t>owertrain</a:t>
              </a:r>
              <a:r>
                <a:rPr kumimoji="0" lang="en-US" altLang="ko-KR" sz="900" b="0" dirty="0">
                  <a:latin typeface="Bodoni MT Black" pitchFamily="18" charset="0"/>
                  <a:ea typeface="휴먼엑스포" pitchFamily="18" charset="-127"/>
                  <a:cs typeface="+mn-cs"/>
                </a:rPr>
                <a:t> Lab.</a:t>
              </a:r>
            </a:p>
          </p:txBody>
        </p:sp>
      </p:grpSp>
      <p:sp>
        <p:nvSpPr>
          <p:cNvPr id="19" name="직사각형 18"/>
          <p:cNvSpPr/>
          <p:nvPr userDrawn="1"/>
        </p:nvSpPr>
        <p:spPr bwMode="auto">
          <a:xfrm>
            <a:off x="9143559" y="6286520"/>
            <a:ext cx="711522" cy="785818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99" r:id="rId2"/>
    <p:sldLayoutId id="2147483708" r:id="rId3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맑은 고딕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  <a:cs typeface="맑은 고딕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  <a:cs typeface="맑은 고딕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  <a:cs typeface="맑은 고딕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  <a:cs typeface="맑은 고딕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맑은 고딕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맑은 고딕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맑은 고딕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맑은 고딕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맑은 고딕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9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제목 개체 틀 1"/>
          <p:cNvSpPr>
            <a:spLocks noGrp="1"/>
          </p:cNvSpPr>
          <p:nvPr>
            <p:ph type="title"/>
          </p:nvPr>
        </p:nvSpPr>
        <p:spPr bwMode="auto">
          <a:xfrm>
            <a:off x="252413" y="142875"/>
            <a:ext cx="8605837" cy="725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4099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Contents</a:t>
            </a:r>
            <a:endParaRPr lang="ko-KR" altLang="en-US"/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857500" y="6421438"/>
            <a:ext cx="33766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latinLnBrk="1" hangingPunct="0">
              <a:spcBef>
                <a:spcPct val="0"/>
              </a:spcBef>
              <a:defRPr kumimoji="1" sz="1200" b="1" i="0" baseline="0">
                <a:solidFill>
                  <a:prstClr val="black">
                    <a:tint val="75000"/>
                  </a:prstClr>
                </a:solidFill>
                <a:latin typeface="Arial Black" pitchFamily="34" charset="0"/>
                <a:ea typeface="맑은 고딕" pitchFamily="50" charset="-127"/>
                <a:cs typeface="+mn-cs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4214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0" latinLnBrk="1" hangingPunct="0">
              <a:spcBef>
                <a:spcPct val="0"/>
              </a:spcBef>
              <a:defRPr kumimoji="1" sz="1200">
                <a:solidFill>
                  <a:prstClr val="black">
                    <a:tint val="75000"/>
                  </a:prstClr>
                </a:solidFill>
                <a:latin typeface="Arial Black" pitchFamily="34" charset="0"/>
                <a:ea typeface="굴림체" pitchFamily="49" charset="-127"/>
                <a:cs typeface="+mn-cs"/>
              </a:defRPr>
            </a:lvl1pPr>
          </a:lstStyle>
          <a:p>
            <a:pPr>
              <a:defRPr/>
            </a:pPr>
            <a:fld id="{F2C2577E-2CF8-43C4-A647-FBA67A39E0D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latinLnBrk="1" hangingPunct="0">
              <a:spcBef>
                <a:spcPct val="0"/>
              </a:spcBef>
              <a:defRPr kumimoji="1" sz="1200">
                <a:solidFill>
                  <a:prstClr val="black">
                    <a:tint val="75000"/>
                  </a:prstClr>
                </a:solidFill>
                <a:latin typeface="Arial Black" pitchFamily="34" charset="0"/>
                <a:ea typeface="굴림체" pitchFamily="49" charset="-127"/>
                <a:cs typeface="+mn-cs"/>
              </a:defRPr>
            </a:lvl1pPr>
          </a:lstStyle>
          <a:p>
            <a:pPr>
              <a:defRPr/>
            </a:pPr>
            <a:fld id="{50A1B761-FDDF-4924-ACBA-C0E852B8BE82}" type="datetimeFigureOut">
              <a:rPr lang="ko-KR" altLang="en-US"/>
              <a:pPr>
                <a:defRPr/>
              </a:pPr>
              <a:t>2023-10-20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2900" kern="1200">
          <a:solidFill>
            <a:srgbClr val="254061"/>
          </a:solidFill>
          <a:latin typeface="Arial Black" pitchFamily="34" charset="0"/>
          <a:ea typeface="+mj-ea"/>
          <a:cs typeface="맑은 고딕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2900">
          <a:solidFill>
            <a:srgbClr val="254061"/>
          </a:solidFill>
          <a:latin typeface="Arial Black" pitchFamily="34" charset="0"/>
          <a:ea typeface="맑은 고딕" pitchFamily="50" charset="-127"/>
          <a:cs typeface="맑은 고딕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2900">
          <a:solidFill>
            <a:srgbClr val="254061"/>
          </a:solidFill>
          <a:latin typeface="Arial Black" pitchFamily="34" charset="0"/>
          <a:ea typeface="맑은 고딕" pitchFamily="50" charset="-127"/>
          <a:cs typeface="맑은 고딕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2900">
          <a:solidFill>
            <a:srgbClr val="254061"/>
          </a:solidFill>
          <a:latin typeface="Arial Black" pitchFamily="34" charset="0"/>
          <a:ea typeface="맑은 고딕" pitchFamily="50" charset="-127"/>
          <a:cs typeface="맑은 고딕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2900">
          <a:solidFill>
            <a:srgbClr val="254061"/>
          </a:solidFill>
          <a:latin typeface="Arial Black" pitchFamily="34" charset="0"/>
          <a:ea typeface="맑은 고딕" pitchFamily="50" charset="-127"/>
          <a:cs typeface="맑은 고딕"/>
        </a:defRPr>
      </a:lvl5pPr>
      <a:lvl6pPr marL="457200" algn="l" rtl="0" fontAlgn="base" latinLnBrk="1">
        <a:spcBef>
          <a:spcPct val="0"/>
        </a:spcBef>
        <a:spcAft>
          <a:spcPct val="0"/>
        </a:spcAft>
        <a:defRPr sz="2900">
          <a:solidFill>
            <a:srgbClr val="254061"/>
          </a:solidFill>
          <a:latin typeface="Arial Black" pitchFamily="34" charset="0"/>
          <a:ea typeface="맑은 고딕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sz="2900">
          <a:solidFill>
            <a:srgbClr val="254061"/>
          </a:solidFill>
          <a:latin typeface="Arial Black" pitchFamily="34" charset="0"/>
          <a:ea typeface="맑은 고딕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sz="2900">
          <a:solidFill>
            <a:srgbClr val="254061"/>
          </a:solidFill>
          <a:latin typeface="Arial Black" pitchFamily="34" charset="0"/>
          <a:ea typeface="맑은 고딕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sz="2900">
          <a:solidFill>
            <a:srgbClr val="254061"/>
          </a:solidFill>
          <a:latin typeface="Arial Black" pitchFamily="34" charset="0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맑은 고딕" pitchFamily="50" charset="-127"/>
          <a:cs typeface="맑은 고딕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맑은 고딕" pitchFamily="50" charset="-127"/>
          <a:cs typeface="맑은 고딕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맑은 고딕" pitchFamily="50" charset="-127"/>
          <a:cs typeface="맑은 고딕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맑은 고딕" pitchFamily="50" charset="-127"/>
          <a:cs typeface="맑은 고딕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맑은 고딕" pitchFamily="50" charset="-127"/>
          <a:cs typeface="맑은 고딕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0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i1_1">
            <a:extLst>
              <a:ext uri="{FF2B5EF4-FFF2-40B4-BE49-F238E27FC236}">
                <a16:creationId xmlns:a16="http://schemas.microsoft.com/office/drawing/2014/main" id="{576D3D66-80D0-D47B-FC88-E057B158F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5976" y="1752600"/>
            <a:ext cx="3172047" cy="2615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20B4E6-C6B5-1B0C-9EAD-C5B1C27A642D}"/>
              </a:ext>
            </a:extLst>
          </p:cNvPr>
          <p:cNvSpPr txBox="1"/>
          <p:nvPr/>
        </p:nvSpPr>
        <p:spPr>
          <a:xfrm>
            <a:off x="1524000" y="4876800"/>
            <a:ext cx="64584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ICE Experiment</a:t>
            </a:r>
          </a:p>
          <a:p>
            <a:pPr algn="ctr"/>
            <a:r>
              <a:rPr lang="en-US" sz="3600" b="1" dirty="0"/>
              <a:t>October 10, 12</a:t>
            </a:r>
          </a:p>
        </p:txBody>
      </p:sp>
    </p:spTree>
    <p:extLst>
      <p:ext uri="{BB962C8B-B14F-4D97-AF65-F5344CB8AC3E}">
        <p14:creationId xmlns:p14="http://schemas.microsoft.com/office/powerpoint/2010/main" val="2267396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182860"/>
            <a:ext cx="8229600" cy="788988"/>
          </a:xfrm>
        </p:spPr>
        <p:txBody>
          <a:bodyPr/>
          <a:lstStyle/>
          <a:p>
            <a:r>
              <a:rPr lang="en-US" sz="2800" b="1" dirty="0">
                <a:latin typeface="Gulim" panose="020B0600000101010101" pitchFamily="34" charset="-127"/>
                <a:ea typeface="Gulim" panose="020B0600000101010101" pitchFamily="34" charset="-127"/>
              </a:rPr>
              <a:t>SPRAY TEST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019247-5FA1-8ABE-2F6A-58C104CCD8F3}"/>
              </a:ext>
            </a:extLst>
          </p:cNvPr>
          <p:cNvSpPr txBox="1"/>
          <p:nvPr/>
        </p:nvSpPr>
        <p:spPr>
          <a:xfrm flipH="1">
            <a:off x="2425267" y="1378217"/>
            <a:ext cx="3358717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highlight>
                  <a:srgbClr val="FFFF00"/>
                </a:highlight>
              </a:rPr>
              <a:t>Experimental Conditions: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Fuel tested 	: Diesel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Injection Pressure	: 50 MPa (500 bar)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Injection Duration 	: 2000 </a:t>
            </a:r>
            <a:r>
              <a:rPr lang="en-US" sz="1200" dirty="0" err="1"/>
              <a:t>μs</a:t>
            </a:r>
            <a:endParaRPr lang="en-US" sz="12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Chamber Pressure	: 15 bar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AFD972C-97E9-43C1-6B38-156EEE0AB277}"/>
              </a:ext>
            </a:extLst>
          </p:cNvPr>
          <p:cNvGrpSpPr/>
          <p:nvPr/>
        </p:nvGrpSpPr>
        <p:grpSpPr>
          <a:xfrm>
            <a:off x="304800" y="1066800"/>
            <a:ext cx="1828800" cy="5512849"/>
            <a:chOff x="-2882900" y="-2144486"/>
            <a:chExt cx="3429000" cy="10259786"/>
          </a:xfrm>
        </p:grpSpPr>
        <p:pic>
          <p:nvPicPr>
            <p:cNvPr id="12" name="Picture 11" descr="A black and yellow circle with a black background&#10;&#10;Description automatically generated">
              <a:extLst>
                <a:ext uri="{FF2B5EF4-FFF2-40B4-BE49-F238E27FC236}">
                  <a16:creationId xmlns:a16="http://schemas.microsoft.com/office/drawing/2014/main" id="{D09BE533-7877-916C-8FC2-28907D1281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882900" y="5543550"/>
              <a:ext cx="3429000" cy="2571750"/>
            </a:xfrm>
            <a:prstGeom prst="rect">
              <a:avLst/>
            </a:prstGeom>
          </p:spPr>
        </p:pic>
        <p:pic>
          <p:nvPicPr>
            <p:cNvPr id="14" name="Picture 13" descr="A circular object with a black background&#10;&#10;Description automatically generated">
              <a:extLst>
                <a:ext uri="{FF2B5EF4-FFF2-40B4-BE49-F238E27FC236}">
                  <a16:creationId xmlns:a16="http://schemas.microsoft.com/office/drawing/2014/main" id="{A12BF21B-7945-3C6D-A30C-09C9D315B0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882900" y="427264"/>
              <a:ext cx="3429000" cy="2571750"/>
            </a:xfrm>
            <a:prstGeom prst="rect">
              <a:avLst/>
            </a:prstGeom>
          </p:spPr>
        </p:pic>
        <p:pic>
          <p:nvPicPr>
            <p:cNvPr id="16" name="Picture 15" descr="A circular object with a black shadow&#10;&#10;Description automatically generated">
              <a:extLst>
                <a:ext uri="{FF2B5EF4-FFF2-40B4-BE49-F238E27FC236}">
                  <a16:creationId xmlns:a16="http://schemas.microsoft.com/office/drawing/2014/main" id="{C9EAD9CF-5932-3EB6-A68F-D253AF5E056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882900" y="2971800"/>
              <a:ext cx="3429000" cy="2571750"/>
            </a:xfrm>
            <a:prstGeom prst="rect">
              <a:avLst/>
            </a:prstGeom>
          </p:spPr>
        </p:pic>
        <p:pic>
          <p:nvPicPr>
            <p:cNvPr id="18" name="Picture 17" descr="A circular object with a black background&#10;&#10;Description automatically generated">
              <a:extLst>
                <a:ext uri="{FF2B5EF4-FFF2-40B4-BE49-F238E27FC236}">
                  <a16:creationId xmlns:a16="http://schemas.microsoft.com/office/drawing/2014/main" id="{7F58A8D0-51D7-B733-E211-8588D79BD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882900" y="-2144486"/>
              <a:ext cx="3429000" cy="2571750"/>
            </a:xfrm>
            <a:prstGeom prst="rect">
              <a:avLst/>
            </a:prstGeom>
          </p:spPr>
        </p:pic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9429059F-1E3A-FCE6-A952-842E9E36DDD5}"/>
              </a:ext>
            </a:extLst>
          </p:cNvPr>
          <p:cNvSpPr/>
          <p:nvPr/>
        </p:nvSpPr>
        <p:spPr bwMode="auto">
          <a:xfrm>
            <a:off x="2425267" y="1009948"/>
            <a:ext cx="1905000" cy="28545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rtlCol="0" anchor="ctr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rPr>
              <a:t>Spray Experiment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C6CE30-C82D-E6BE-71F6-0EBEF0BED5B0}"/>
              </a:ext>
            </a:extLst>
          </p:cNvPr>
          <p:cNvSpPr txBox="1"/>
          <p:nvPr/>
        </p:nvSpPr>
        <p:spPr>
          <a:xfrm flipH="1">
            <a:off x="5951825" y="1378217"/>
            <a:ext cx="2630201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highlight>
                  <a:srgbClr val="FFFF00"/>
                </a:highlight>
              </a:rPr>
              <a:t>Camera and Optical Setup: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Method	: </a:t>
            </a:r>
            <a:r>
              <a:rPr lang="en-US" sz="1200" dirty="0" err="1"/>
              <a:t>Shadowgraphy</a:t>
            </a:r>
            <a:endParaRPr lang="en-US" sz="12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Light Source : Halogen lamp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Shutter speed : 1/1,500,000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Frame speed : 30,000 fps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A5A90F-7DC3-DB99-9841-6ED7BE763506}"/>
              </a:ext>
            </a:extLst>
          </p:cNvPr>
          <p:cNvSpPr/>
          <p:nvPr/>
        </p:nvSpPr>
        <p:spPr bwMode="auto">
          <a:xfrm>
            <a:off x="2425267" y="2536606"/>
            <a:ext cx="1905000" cy="28545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rtlCol="0" anchor="ctr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rPr>
              <a:t>Image Processing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5297755-2074-A5E8-42A1-0DED7A03F3B7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14395" b="9352"/>
          <a:stretch/>
        </p:blipFill>
        <p:spPr>
          <a:xfrm>
            <a:off x="5606616" y="2854840"/>
            <a:ext cx="2622984" cy="156476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F0DD863-3889-BE8A-BAE7-65B6B1AAE402}"/>
              </a:ext>
            </a:extLst>
          </p:cNvPr>
          <p:cNvSpPr txBox="1"/>
          <p:nvPr/>
        </p:nvSpPr>
        <p:spPr>
          <a:xfrm>
            <a:off x="2371075" y="2824844"/>
            <a:ext cx="20133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Student Name </a:t>
            </a:r>
            <a:r>
              <a:rPr lang="en-US" sz="1200" dirty="0"/>
              <a:t>: </a:t>
            </a:r>
            <a:r>
              <a:rPr lang="ko-KR" altLang="en-US" sz="1200" dirty="0"/>
              <a:t>김형진</a:t>
            </a:r>
            <a:endParaRPr lang="en-US" sz="1200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16558B38-D5B0-44CF-8129-A2D1B090AC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464389"/>
              </p:ext>
            </p:extLst>
          </p:nvPr>
        </p:nvGraphicFramePr>
        <p:xfrm>
          <a:off x="2425267" y="5293107"/>
          <a:ext cx="2603934" cy="974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967">
                  <a:extLst>
                    <a:ext uri="{9D8B030D-6E8A-4147-A177-3AD203B41FA5}">
                      <a16:colId xmlns:a16="http://schemas.microsoft.com/office/drawing/2014/main" val="1522949616"/>
                    </a:ext>
                  </a:extLst>
                </a:gridCol>
                <a:gridCol w="1301967">
                  <a:extLst>
                    <a:ext uri="{9D8B030D-6E8A-4147-A177-3AD203B41FA5}">
                      <a16:colId xmlns:a16="http://schemas.microsoft.com/office/drawing/2014/main" val="4070161515"/>
                    </a:ext>
                  </a:extLst>
                </a:gridCol>
              </a:tblGrid>
              <a:tr h="28620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Parameters</a:t>
                      </a:r>
                    </a:p>
                  </a:txBody>
                  <a:tcPr marL="18288" marR="18288" marT="18288" marB="18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Results</a:t>
                      </a:r>
                    </a:p>
                  </a:txBody>
                  <a:tcPr marL="18288" marR="18288" marT="18288" marB="18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8025476"/>
                  </a:ext>
                </a:extLst>
              </a:tr>
              <a:tr h="31051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Spray penetration 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length</a:t>
                      </a:r>
                    </a:p>
                  </a:txBody>
                  <a:tcPr marL="18288" marR="18288" marT="18288" marB="18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91.93 mm</a:t>
                      </a:r>
                    </a:p>
                  </a:txBody>
                  <a:tcPr marL="18288" marR="18288" marT="18288" marB="18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372573"/>
                  </a:ext>
                </a:extLst>
              </a:tr>
              <a:tr h="28620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Spray cone angle</a:t>
                      </a:r>
                    </a:p>
                  </a:txBody>
                  <a:tcPr marL="18288" marR="18288" marT="18288" marB="18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16.7 º</a:t>
                      </a:r>
                    </a:p>
                  </a:txBody>
                  <a:tcPr marL="18288" marR="18288" marT="18288" marB="18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3436678"/>
                  </a:ext>
                </a:extLst>
              </a:tr>
            </a:tbl>
          </a:graphicData>
        </a:graphic>
      </p:graphicFrame>
      <p:pic>
        <p:nvPicPr>
          <p:cNvPr id="29" name="Picture 28">
            <a:extLst>
              <a:ext uri="{FF2B5EF4-FFF2-40B4-BE49-F238E27FC236}">
                <a16:creationId xmlns:a16="http://schemas.microsoft.com/office/drawing/2014/main" id="{1DF78A6B-FF37-F38A-6B88-8120FEB8521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67325" y="4498741"/>
            <a:ext cx="3438816" cy="1929279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CFCCF801-4F05-3559-0971-CFE9426B839E}"/>
              </a:ext>
            </a:extLst>
          </p:cNvPr>
          <p:cNvSpPr/>
          <p:nvPr/>
        </p:nvSpPr>
        <p:spPr bwMode="auto">
          <a:xfrm>
            <a:off x="5149418" y="2536606"/>
            <a:ext cx="3651682" cy="394039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rtlCol="0" anchor="ctr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ulim" panose="020B0600000101010101" pitchFamily="34" charset="-127"/>
              <a:ea typeface="Gulim" panose="020B0600000101010101" pitchFamily="34" charset="-127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EA3730-43B5-18E0-B3DC-81B54F5FE780}"/>
              </a:ext>
            </a:extLst>
          </p:cNvPr>
          <p:cNvSpPr txBox="1"/>
          <p:nvPr/>
        </p:nvSpPr>
        <p:spPr>
          <a:xfrm>
            <a:off x="5267325" y="2555016"/>
            <a:ext cx="32223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The image will be processed in the </a:t>
            </a:r>
            <a:r>
              <a:rPr lang="en-US" sz="1200" b="1" dirty="0" err="1"/>
              <a:t>Matlab</a:t>
            </a:r>
            <a:endParaRPr lang="en-US" sz="1200" b="1" dirty="0"/>
          </a:p>
        </p:txBody>
      </p:sp>
      <p:pic>
        <p:nvPicPr>
          <p:cNvPr id="33" name="KakaoTalk_20231018_085903040">
            <a:hlinkClick r:id="" action="ppaction://media"/>
            <a:extLst>
              <a:ext uri="{FF2B5EF4-FFF2-40B4-BE49-F238E27FC236}">
                <a16:creationId xmlns:a16="http://schemas.microsoft.com/office/drawing/2014/main" id="{D5CAB0BA-9F1A-2D85-C05A-617E87B402D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2415741" y="3172618"/>
            <a:ext cx="2593189" cy="145866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927F87C-09A2-52CD-2195-CEF547366F98}"/>
              </a:ext>
            </a:extLst>
          </p:cNvPr>
          <p:cNvSpPr txBox="1"/>
          <p:nvPr/>
        </p:nvSpPr>
        <p:spPr>
          <a:xfrm>
            <a:off x="2315796" y="4821917"/>
            <a:ext cx="28336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/>
              <a:t>Results of the spray measurement on a single image sample</a:t>
            </a:r>
          </a:p>
        </p:txBody>
      </p:sp>
    </p:spTree>
    <p:extLst>
      <p:ext uri="{BB962C8B-B14F-4D97-AF65-F5344CB8AC3E}">
        <p14:creationId xmlns:p14="http://schemas.microsoft.com/office/powerpoint/2010/main" val="34744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209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E3168-2E9A-B246-C5A7-9D1DDA230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25413"/>
            <a:ext cx="8785225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200" b="1" dirty="0"/>
              <a:t>FLOW RATE TEST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56ECEE-4EED-9A4B-7186-855F6C687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161550"/>
            <a:ext cx="4320480" cy="57264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0867DE-E33F-8EFC-C0CD-56FC59197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0311" y="1165171"/>
            <a:ext cx="3847101" cy="3435524"/>
          </a:xfrm>
          <a:prstGeom prst="rect">
            <a:avLst/>
          </a:prstGeom>
        </p:spPr>
      </p:pic>
      <p:sp>
        <p:nvSpPr>
          <p:cNvPr id="6" name="TextBox 12">
            <a:extLst>
              <a:ext uri="{FF2B5EF4-FFF2-40B4-BE49-F238E27FC236}">
                <a16:creationId xmlns:a16="http://schemas.microsoft.com/office/drawing/2014/main" id="{60178DDF-EF54-FB5A-CB25-6183C02EC9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1336" y="4724400"/>
            <a:ext cx="386505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300" b="1" dirty="0">
                <a:ea typeface="DengXian" panose="02010600030101010101" pitchFamily="2" charset="-122"/>
              </a:rPr>
              <a:t>Some students already finished experiment but not yet finished in calculating flow rate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C3A59E-08EC-C055-0109-44387770A1D3}"/>
              </a:ext>
            </a:extLst>
          </p:cNvPr>
          <p:cNvSpPr txBox="1"/>
          <p:nvPr/>
        </p:nvSpPr>
        <p:spPr>
          <a:xfrm>
            <a:off x="4932362" y="5159684"/>
            <a:ext cx="4191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i="0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From Flow Rate Measurement Chamber, we have data with weight scale on gram</a:t>
            </a:r>
          </a:p>
          <a:p>
            <a:pPr algn="just"/>
            <a:r>
              <a:rPr lang="en-US" sz="1200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this data we know that :</a:t>
            </a:r>
          </a:p>
          <a:p>
            <a:pPr marL="273050" lvl="1" indent="-2730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Injection duration </a:t>
            </a:r>
            <a:r>
              <a:rPr lang="en-US" sz="1200" dirty="0" err="1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percycle</a:t>
            </a:r>
            <a:r>
              <a:rPr lang="en-US" sz="1200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: 1200 </a:t>
            </a:r>
            <a:r>
              <a:rPr lang="en-US" sz="1200" dirty="0" err="1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US" sz="1200" dirty="0">
              <a:solidFill>
                <a:srgbClr val="21212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3050" lvl="1" indent="-2730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Amount of cycle 		: 425</a:t>
            </a:r>
          </a:p>
          <a:p>
            <a:pPr marL="273050" lvl="1" indent="-2730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Diesel Fuel Density 		: 0,8263 g/cm3</a:t>
            </a:r>
          </a:p>
          <a:p>
            <a:pPr algn="just"/>
            <a:r>
              <a:rPr lang="en-US" sz="1200" i="0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 then we calculate, we get : 0,0156151 ml/s</a:t>
            </a:r>
            <a:endParaRPr lang="en-US" sz="1200" b="0" i="0" dirty="0">
              <a:solidFill>
                <a:srgbClr val="212121"/>
              </a:solidFill>
              <a:effectLst/>
              <a:latin typeface="-apple-system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5C0719-6A75-2EFF-9594-FC0982006DE7}"/>
              </a:ext>
            </a:extLst>
          </p:cNvPr>
          <p:cNvSpPr/>
          <p:nvPr/>
        </p:nvSpPr>
        <p:spPr bwMode="auto">
          <a:xfrm>
            <a:off x="152400" y="2438400"/>
            <a:ext cx="4549080" cy="381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rtlCol="0" anchor="ctr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cs typeface="+mn-cs"/>
            </a:endParaRPr>
          </a:p>
        </p:txBody>
      </p:sp>
    </p:spTree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blipFill>
          <a:blip xmlns:r="http://schemas.openxmlformats.org/officeDocument/2006/relationships" r:embed="rId1"/>
          <a:tile tx="0" ty="0" sx="100000" sy="100000" flip="none" algn="tl"/>
        </a:blipFill>
        <a:ln w="12700">
          <a:solidFill>
            <a:schemeClr val="tx1"/>
          </a:solidFill>
          <a:miter lim="800000"/>
          <a:headEnd/>
          <a:tailEnd/>
        </a:ln>
      </a:spPr>
      <a:bodyPr wrap="none" rtlCol="0" anchor="ctr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100" b="0" i="0" u="none" strike="noStrike" kern="1200" cap="none" spc="0" normalizeH="0" baseline="0" noProof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Arial" pitchFamily="34" charset="0"/>
            <a:cs typeface="+mn-cs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2">
      <a:majorFont>
        <a:latin typeface="Tahoma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solidFill>
            <a:schemeClr val="accent2"/>
          </a:solidFill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a:spPr>
      <a:bodyPr tIns="0" bIns="0" rtlCol="0" anchor="ctr"/>
      <a:lstStyle>
        <a:defPPr>
          <a:defRPr sz="1600" b="1" dirty="0" smtClean="0">
            <a:latin typeface="+mj-ea"/>
            <a:ea typeface="+mj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118082</TotalTime>
  <Words>175</Words>
  <Application>Microsoft Office PowerPoint</Application>
  <PresentationFormat>화면 슬라이드 쇼(4:3)</PresentationFormat>
  <Paragraphs>36</Paragraphs>
  <Slides>3</Slides>
  <Notes>3</Notes>
  <HiddenSlides>0</HiddenSlides>
  <MMClips>1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</vt:i4>
      </vt:variant>
    </vt:vector>
  </HeadingPairs>
  <TitlesOfParts>
    <vt:vector size="15" baseType="lpstr">
      <vt:lpstr>-apple-system</vt:lpstr>
      <vt:lpstr>Gulim</vt:lpstr>
      <vt:lpstr>Gulim</vt:lpstr>
      <vt:lpstr>맑은 고딕</vt:lpstr>
      <vt:lpstr>Arial</vt:lpstr>
      <vt:lpstr>Arial Black</vt:lpstr>
      <vt:lpstr>Bodoni MT Black</vt:lpstr>
      <vt:lpstr>Calibri</vt:lpstr>
      <vt:lpstr>Times New Roman</vt:lpstr>
      <vt:lpstr>Wingdings</vt:lpstr>
      <vt:lpstr>1_Office 테마</vt:lpstr>
      <vt:lpstr>디자인 사용자 지정</vt:lpstr>
      <vt:lpstr>PowerPoint 프레젠테이션</vt:lpstr>
      <vt:lpstr>SPRAY TEST</vt:lpstr>
      <vt:lpstr>PowerPoint 프레젠테이션</vt:lpstr>
    </vt:vector>
  </TitlesOfParts>
  <Company>Smart Powertrain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Pioneer506</dc:creator>
  <cp:lastModifiedBy>ocktaeck lim</cp:lastModifiedBy>
  <cp:revision>8026</cp:revision>
  <cp:lastPrinted>2017-06-14T05:09:54Z</cp:lastPrinted>
  <dcterms:created xsi:type="dcterms:W3CDTF">2008-06-12T13:51:36Z</dcterms:created>
  <dcterms:modified xsi:type="dcterms:W3CDTF">2023-10-20T10:33:53Z</dcterms:modified>
</cp:coreProperties>
</file>